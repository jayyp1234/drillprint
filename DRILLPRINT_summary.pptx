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6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DRILLPRINT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868680" y="2880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Shazam for drilling failures — deterministic, explainable, physics-grounded, real-time.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A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recognizes drilling dysfunctions from rig sensor data the way Shazam recognizes a song in a noisy bar.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Johnpaul Okeke</a:t>
            </a:r>
            <a:pPr indent="0" marL="0">
              <a:buNone/>
            </a:pPr>
            <a:r>
              <a:rPr lang="en-US" sz="1300" dirty="0">
                <a:solidFill>
                  <a:srgbClr val="7FA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August 2026   ·   6 of 8 build phases delivered · 119/119 tests passing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watches for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A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drilling failures destroy bits and drillpipe. Each one leaves a distinct spectral signature in the rig's sensors — a fingerprint.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291840" cy="3108960"/>
          </a:xfrm>
          <a:prstGeom prst="ROUNDED_RECTANGLE">
            <a:avLst>
              <a:gd name="adj" fmla="val 1765"/>
            </a:avLst>
          </a:prstGeom>
          <a:solidFill>
            <a:srgbClr val="12241B"/>
          </a:solidFill>
          <a:ln w="12700">
            <a:solidFill>
              <a:srgbClr val="1F3A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▮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STICK-SLIP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329184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drillstring winds up like a torsion spring, then the bit whips free — over and over. Seen in surface torque.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4840" y="2011680"/>
            <a:ext cx="3291840" cy="3108960"/>
          </a:xfrm>
          <a:prstGeom prst="ROUNDED_RECTANGLE">
            <a:avLst>
              <a:gd name="adj" fmla="val 1765"/>
            </a:avLst>
          </a:prstGeom>
          <a:solidFill>
            <a:srgbClr val="12241B"/>
          </a:solidFill>
          <a:ln w="12700">
            <a:solidFill>
              <a:srgbClr val="1F3A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▮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6344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 WHIRL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329184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bottom assembly rolls around the borehole wall backwards, hammering it. Seen in lateral vibration.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3291840" cy="3108960"/>
          </a:xfrm>
          <a:prstGeom prst="ROUNDED_RECTANGLE">
            <a:avLst>
              <a:gd name="adj" fmla="val 1765"/>
            </a:avLst>
          </a:prstGeom>
          <a:solidFill>
            <a:srgbClr val="12241B"/>
          </a:solidFill>
          <a:ln w="12700">
            <a:solidFill>
              <a:srgbClr val="1F3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F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▮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7532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 BOUNCE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5320" y="329184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bit lifts off and slams the hole bottom in rhythm. Seen in axial vibration and weight-on-bit.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5778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machine learning. Every alert decomposes into an auditable chain — detection is proof, not probability.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8778240" cy="804672"/>
          </a:xfrm>
          <a:prstGeom prst="ROUNDED_RECTANGLE">
            <a:avLst>
              <a:gd name="adj" fmla="val 6818"/>
            </a:avLst>
          </a:prstGeom>
          <a:solidFill>
            <a:srgbClr val="12241B"/>
          </a:solidFill>
          <a:ln w="12700">
            <a:solidFill>
              <a:srgbClr val="1F3A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91640" y="16184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0" y="161848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FA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rig sensors — torque, RPM, vibration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386584"/>
            <a:ext cx="8778240" cy="804672"/>
          </a:xfrm>
          <a:prstGeom prst="ROUNDED_RECTANGLE">
            <a:avLst>
              <a:gd name="adj" fmla="val 6818"/>
            </a:avLst>
          </a:prstGeom>
          <a:solidFill>
            <a:srgbClr val="12241B"/>
          </a:solidFill>
          <a:ln w="12700">
            <a:solidFill>
              <a:srgbClr val="1F3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054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25877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FINGERPRINT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114800" y="258775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FA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the signal to its strongest spectral peaks, hashed in pairs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355848"/>
            <a:ext cx="8778240" cy="804672"/>
          </a:xfrm>
          <a:prstGeom prst="ROUNDED_RECTANGLE">
            <a:avLst>
              <a:gd name="adj" fmla="val 6818"/>
            </a:avLst>
          </a:prstGeom>
          <a:solidFill>
            <a:srgbClr val="12241B"/>
          </a:solidFill>
          <a:ln w="12700">
            <a:solidFill>
              <a:srgbClr val="1F3A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91640" y="355701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114800" y="3557016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FA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Re-sample per revolution — fingerprints survive speed changes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325112"/>
            <a:ext cx="8778240" cy="804672"/>
          </a:xfrm>
          <a:prstGeom prst="ROUNDED_RECTANGLE">
            <a:avLst>
              <a:gd name="adj" fmla="val 6818"/>
            </a:avLst>
          </a:prstGeom>
          <a:solidFill>
            <a:srgbClr val="12241B"/>
          </a:solidFill>
          <a:ln w="12700">
            <a:solidFill>
              <a:srgbClr val="1F3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4439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91640" y="4526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114800" y="45262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FA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up against a physics-generated library of failure episodes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5294376"/>
            <a:ext cx="8778240" cy="804672"/>
          </a:xfrm>
          <a:prstGeom prst="ROUNDED_RECTANGLE">
            <a:avLst>
              <a:gd name="adj" fmla="val 6818"/>
            </a:avLst>
          </a:prstGeom>
          <a:solidFill>
            <a:srgbClr val="12241B"/>
          </a:solidFill>
          <a:ln w="12700">
            <a:solidFill>
              <a:srgbClr val="1F3A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413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691640" y="549554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114800" y="5495544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FA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statistics must both defeat a chance model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875520" y="1417320"/>
            <a:ext cx="1600200" cy="4882896"/>
          </a:xfrm>
          <a:prstGeom prst="ROUNDED_RECTANGLE">
            <a:avLst>
              <a:gd name="adj" fmla="val 3429"/>
            </a:avLst>
          </a:prstGeom>
          <a:solidFill>
            <a:srgbClr val="12241B"/>
          </a:solidFill>
          <a:ln w="12700">
            <a:solidFill>
              <a:srgbClr val="1F3A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1268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A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1268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12680" y="26517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in seconds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1268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12680" y="39319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confirmed, with statistical proof attached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built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A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1371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engine — spectrograms, fingerprints, matcher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59536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DONE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197510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A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197510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simulators for all four drilling conditions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595360" y="197510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DONE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57860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A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45920" y="25786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Per-revolution matching (the research contribution)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595360" y="25786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DONE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18211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A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318211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 library — 176 episodes, versioned &amp; approved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595360" y="31821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DONE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78561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A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45920" y="378561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streaming service with two-tier alerts + digital twin feed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95360" y="378561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DONE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389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A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45920" y="43891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vs. a conventional baseline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595360" y="4389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A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○ MACHINERY DONE · full run in progress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499262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A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45920" y="499262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Control-room UI + cinematic 3D rig view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595360" y="499262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&amp; PLAYABLE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559612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A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45920" y="559612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One-command demo mode &amp; scenario player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595360" y="55961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A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○ NOT STARTED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" y="62179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FA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Spec-first build: a 40-finding verification study hardened the design before code; 8 further spec errors were caught and fixed by the implementation itself.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numbers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3291840" cy="1965960"/>
          </a:xfrm>
          <a:prstGeom prst="ROUNDED_RECTANGLE">
            <a:avLst>
              <a:gd name="adj" fmla="val 2791"/>
            </a:avLst>
          </a:prstGeom>
          <a:solidFill>
            <a:srgbClr val="12241B"/>
          </a:solidFill>
          <a:ln w="12700">
            <a:solidFill>
              <a:srgbClr val="1F3A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78308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ms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51560" y="26060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match one window against the full library (target: 10 ms)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34840" y="1554480"/>
            <a:ext cx="3291840" cy="1965960"/>
          </a:xfrm>
          <a:prstGeom prst="ROUNDED_RECTANGLE">
            <a:avLst>
              <a:gd name="adj" fmla="val 2791"/>
            </a:avLst>
          </a:prstGeom>
          <a:solidFill>
            <a:srgbClr val="12241B"/>
          </a:solidFill>
          <a:ln w="12700">
            <a:solidFill>
              <a:srgbClr val="1F3A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78308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663440" y="26060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build the entire 456,000-print library (budget: 5 min)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0" y="1554480"/>
            <a:ext cx="3291840" cy="1965960"/>
          </a:xfrm>
          <a:prstGeom prst="ROUNDED_RECTANGLE">
            <a:avLst>
              <a:gd name="adj" fmla="val 2791"/>
            </a:avLst>
          </a:prstGeom>
          <a:solidFill>
            <a:srgbClr val="12241B"/>
          </a:solidFill>
          <a:ln w="12700">
            <a:solidFill>
              <a:srgbClr val="1F3A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5320" y="178308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75320" y="26060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 on the pump-noise trap designed to fool it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840480"/>
            <a:ext cx="3291840" cy="1965960"/>
          </a:xfrm>
          <a:prstGeom prst="ROUNDED_RECTANGLE">
            <a:avLst>
              <a:gd name="adj" fmla="val 2791"/>
            </a:avLst>
          </a:prstGeom>
          <a:solidFill>
            <a:srgbClr val="12241B"/>
          </a:solidFill>
          <a:ln w="12700">
            <a:solidFill>
              <a:srgbClr val="1F3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06908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 s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1051560" y="48920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confirm whirl during a live speed ramp — the hard case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34840" y="3840480"/>
            <a:ext cx="3291840" cy="1965960"/>
          </a:xfrm>
          <a:prstGeom prst="ROUNDED_RECTANGLE">
            <a:avLst>
              <a:gd name="adj" fmla="val 2791"/>
            </a:avLst>
          </a:prstGeom>
          <a:solidFill>
            <a:srgbClr val="12241B"/>
          </a:solidFill>
          <a:ln w="12700">
            <a:solidFill>
              <a:srgbClr val="1F3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406908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119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663440" y="48920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tests, all passing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3840480"/>
            <a:ext cx="3291840" cy="1965960"/>
          </a:xfrm>
          <a:prstGeom prst="ROUNDED_RECTANGLE">
            <a:avLst>
              <a:gd name="adj" fmla="val 2791"/>
            </a:avLst>
          </a:prstGeom>
          <a:solidFill>
            <a:srgbClr val="12241B"/>
          </a:solidFill>
          <a:ln w="12700">
            <a:solidFill>
              <a:srgbClr val="1F3A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406908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F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10⁻¹³⁸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275320" y="48920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chance that a confirmed whirl match was luck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it a success?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937760" y="146304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8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science works and is proven by tests: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7FA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fingerprints survive speed changes, detections carry mathematical proof, and the pump-noise decoy never fools it.
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8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end-to-end today: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7FA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sensors in, amber-to-red alerts out, with a playable 3D rig that animates every failure from real data.
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0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to finish: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7FA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benchmark report, the one-command demo (M7), and UI polish.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drillprint · engine + library + streaming service + rig view · built spec-first with every design decision auditable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2026-08-11T00:12:57Z</dcterms:created>
  <dcterms:modified xsi:type="dcterms:W3CDTF">2026-08-11T00:12:57Z</dcterms:modified>
</cp:coreProperties>
</file>